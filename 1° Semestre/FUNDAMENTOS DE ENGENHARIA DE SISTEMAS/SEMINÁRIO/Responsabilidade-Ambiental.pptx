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Fraunces Extra Bold" panose="020B0604020202020204" charset="0"/>
      <p:regular r:id="rId12"/>
    </p:embeddedFont>
    <p:embeddedFont>
      <p:font typeface="Nobile" panose="020B0604020202020204" charset="0"/>
      <p:regular r:id="rId1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231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reensoftware.foundatio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iea.org/reports/data-centres-and-data-transmission-networ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02819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Responsabilidade ambiental</a:t>
            </a:r>
            <a:endParaRPr lang="en-US" sz="6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99173" y="3899416"/>
            <a:ext cx="714565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Desenvolvimento de software sustentável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33951" y="4920020"/>
            <a:ext cx="721625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"Nem sempre associamos software a impactos ambientais, mas a forma como um sistema é construído tem grande importância sobre como os recursos computacionais, energéticos e financeiros que suportam seu ecossistema serão utilizados."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4664869"/>
            <a:ext cx="30480" cy="1961912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5917"/>
            <a:ext cx="62945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SUSTENTABILIDADE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283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Conceito:</a:t>
            </a: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Termo que exprime ambição futura de continuidade, durabilidade ou perenidade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4463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Origem:</a:t>
            </a: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Surgiu com questão ambiental da sobrepesca e tendo sido banalizado na atualidade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149441"/>
            <a:ext cx="634912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Três Dimensões (Triple Bottom Line)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3914894"/>
            <a:ext cx="4196358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20604" y="4141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Ambiental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0604" y="463212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Conservação de recursos naturais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914894"/>
            <a:ext cx="4196358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43776" y="4141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Econômica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43776" y="463212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Viabilidade financeira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914894"/>
            <a:ext cx="4196358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866948" y="4141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Social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66948" y="463212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Impacto nas pessoas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562005"/>
            <a:ext cx="1008078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Desenvolvimento Sustentável (Definição Brundtland 1987)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33951" y="6582608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"Aquele que satisfaz as necessidades do presente sem comprometer a capacidade das gerações futuras de satisfazer suas próprias necessidades"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3790" y="6327458"/>
            <a:ext cx="30480" cy="1236107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303CC3D-2B6F-17C0-D672-8979038E36E1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7944"/>
            <a:ext cx="7188160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SOFTWARE SUSTENTÁVEL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89" y="1547399"/>
            <a:ext cx="1304282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Software Sustentável</a:t>
            </a: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é aquele desenvolvido de maneira orientada a sustentabilidade, cujos impactos negativos à economia, sociedade e meio ambiente durante seu desenvolvimento, implantação e utilização são </a:t>
            </a: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mínimos</a:t>
            </a: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ou causam </a:t>
            </a: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efeitos positivos</a:t>
            </a: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em relação à sustentabilidade.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030379"/>
            <a:ext cx="10344626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Critérios de Identificação de Software Sustentável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846790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Presença de critérios de qualidade de software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244935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Existência de critérios específicos de sustentabilidade (especialmente eficiência energética)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643080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Adoção de critérios de sustentabilidade em todas as fases do ciclo de vida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275897"/>
            <a:ext cx="9245203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Como o Software Pode Ser Mais Sustentável?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6092309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Desempenho Eficiente:</a:t>
            </a: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Processamento que implica economia de recursos energéticos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648569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Agilidade na Manutenção:</a:t>
            </a: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Construção focada em reusabilidade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7204828"/>
            <a:ext cx="13470850" cy="83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Resultado Comparativo:</a:t>
            </a: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Software com mesma funcionalidade, mas com melhor eficiência energética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 reuso = mais sustentável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9F3FBBD-AFCB-7A45-4E40-A6CB0AB8F42D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311"/>
            <a:ext cx="1189208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CARACTERÍSTICAS E RESPONSABILIDADES - CICLO DE VIDA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293019"/>
            <a:ext cx="5791081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Compromisso de TODOS os Envolvidos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1882735"/>
            <a:ext cx="13042821" cy="980123"/>
          </a:xfrm>
          <a:prstGeom prst="roundRect">
            <a:avLst>
              <a:gd name="adj" fmla="val 13539"/>
            </a:avLst>
          </a:prstGeom>
          <a:solidFill>
            <a:srgbClr val="CCE6D1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89" y="2096214"/>
            <a:ext cx="230267" cy="184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8855" y="2066925"/>
            <a:ext cx="1237035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“Cada profissional envolvido no desenvolvimento, teste, implantação, monitoração e manutenção tem o dever de aprimorar e transmitir conhecimentos para mitigar ou eliminar impactos ambientais”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3083957"/>
            <a:ext cx="4101227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Papéis e Responsabilidades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93790" y="3673673"/>
            <a:ext cx="6447711" cy="1695926"/>
          </a:xfrm>
          <a:prstGeom prst="roundRect">
            <a:avLst>
              <a:gd name="adj" fmla="val 7824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6"/>
          <p:cNvSpPr/>
          <p:nvPr/>
        </p:nvSpPr>
        <p:spPr>
          <a:xfrm>
            <a:off x="956429" y="3836313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Engenheiros de Software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56429" y="4219456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Disseminar conhecimento sobre software sustentável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56429" y="4565809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Orientar escolhas relacionadas a arquitetura e qualidade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56429" y="4912162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Considerar impactos nas três dimensões da sustentabilidade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388900" y="3673673"/>
            <a:ext cx="6447711" cy="1695926"/>
          </a:xfrm>
          <a:prstGeom prst="roundRect">
            <a:avLst>
              <a:gd name="adj" fmla="val 7824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1"/>
          <p:cNvSpPr/>
          <p:nvPr/>
        </p:nvSpPr>
        <p:spPr>
          <a:xfrm>
            <a:off x="7551539" y="3836313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Definidores de Produto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551539" y="4219456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Optar por itens mais sustentáveis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551539" y="4565809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Incluir sustentabilidade nos requisitos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551539" y="4912162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Monitorar execução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93790" y="5516999"/>
            <a:ext cx="6447711" cy="1939171"/>
          </a:xfrm>
          <a:prstGeom prst="roundRect">
            <a:avLst>
              <a:gd name="adj" fmla="val 6843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6"/>
          <p:cNvSpPr/>
          <p:nvPr/>
        </p:nvSpPr>
        <p:spPr>
          <a:xfrm>
            <a:off x="956429" y="5679638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Gerência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56429" y="6062782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Garantir bom gerenciamento de projetos de software sustentável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56429" y="6409134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Acompanhar métricas de sustentabilidade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56429" y="6755487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Monitorar efetividade dos objetivos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388900" y="5516999"/>
            <a:ext cx="6447711" cy="1939171"/>
          </a:xfrm>
          <a:prstGeom prst="roundRect">
            <a:avLst>
              <a:gd name="adj" fmla="val 6843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1"/>
          <p:cNvSpPr/>
          <p:nvPr/>
        </p:nvSpPr>
        <p:spPr>
          <a:xfrm>
            <a:off x="7551539" y="5679638"/>
            <a:ext cx="6122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Usuários Finais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551539" y="6062782"/>
            <a:ext cx="6122432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Responsabilidade em resolver conflitos de interesse com impactos ambientais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551539" y="6703933"/>
            <a:ext cx="6122432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Diminuir ou suprimir impactos em detrimento de escolhas de usabilidade/funcionalidade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41BD16B-74B9-9B37-813B-774440D76C05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5319"/>
            <a:ext cx="10709910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TRÊS PILARES DA SUSTENTABILIDADE NO SOFTWARE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474589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Dimensão Social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990606"/>
            <a:ext cx="410741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Impacto social positivo quando cumpre seu objetivo funcional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513648"/>
            <a:ext cx="410741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Acessível em idiomas, linguagens e formas de transmitir conteúdo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036689"/>
            <a:ext cx="410741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Segurança, privacidade e proteção de dados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323987"/>
            <a:ext cx="410741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Testável sem impedimentos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3611285"/>
            <a:ext cx="410741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Garante satisfação do usuário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63051" y="1474589"/>
            <a:ext cx="3138011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Dimensão Ambiental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63051" y="1990606"/>
            <a:ext cx="410741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Consumo de recursos em tempo de execução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63051" y="2277904"/>
            <a:ext cx="410741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Manutenção, modificação e portabilidade de infraestrutura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63051" y="2800945"/>
            <a:ext cx="410741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Recursos energéticos consumidos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63051" y="3088243"/>
            <a:ext cx="410741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Equipamentos envolvidos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32313" y="1526934"/>
            <a:ext cx="3218855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Dimensão Econômica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32313" y="2042951"/>
            <a:ext cx="410741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Eficiência energética = economia financeira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32313" y="2330249"/>
            <a:ext cx="410741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Sistema testável, confiável = reduz perdas com falhas sistêmicas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32313" y="2853290"/>
            <a:ext cx="410741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Capacidade de manutenção e portabilidade = redução de custos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4119682"/>
            <a:ext cx="4954905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Pilares do Software Sustentável (Ambiental)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56397" y="5985510"/>
            <a:ext cx="198036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Eficiência Energética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62" y="4617125"/>
            <a:ext cx="2967157" cy="2967157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6306" y="5990332"/>
            <a:ext cx="220504" cy="2205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019818" y="5188387"/>
            <a:ext cx="223170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Otimização de Recursos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1562" y="4617125"/>
            <a:ext cx="2967157" cy="2967157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4001" y="5090934"/>
            <a:ext cx="220504" cy="2205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19818" y="678251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Perdurabilidade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1562" y="4617125"/>
            <a:ext cx="2967157" cy="2967157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24001" y="6889730"/>
            <a:ext cx="220504" cy="22050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2C69508D-D7DF-41C0-FFC5-FF5F28CA37D0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2816"/>
            <a:ext cx="11237119" cy="52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CARACTERÍSTICAS DO SOFTWARE SUSTENTÁVEL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0932" y="1220153"/>
            <a:ext cx="3389828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Confiabilidade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0932" y="1897975"/>
            <a:ext cx="6418302" cy="976432"/>
          </a:xfrm>
          <a:prstGeom prst="roundRect">
            <a:avLst>
              <a:gd name="adj" fmla="val 156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Shape 3"/>
          <p:cNvSpPr/>
          <p:nvPr/>
        </p:nvSpPr>
        <p:spPr>
          <a:xfrm>
            <a:off x="960358" y="2157472"/>
            <a:ext cx="84653" cy="84653"/>
          </a:xfrm>
          <a:prstGeom prst="roundRect">
            <a:avLst>
              <a:gd name="adj" fmla="val 540087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1214438" y="2067401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Maturidade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4438" y="2433757"/>
            <a:ext cx="5825371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Grau necessário para garantir alta disponibilidade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1047" y="1897975"/>
            <a:ext cx="6418421" cy="976432"/>
          </a:xfrm>
          <a:prstGeom prst="roundRect">
            <a:avLst>
              <a:gd name="adj" fmla="val 156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9" name="Shape 7"/>
          <p:cNvSpPr/>
          <p:nvPr/>
        </p:nvSpPr>
        <p:spPr>
          <a:xfrm>
            <a:off x="7590473" y="2157472"/>
            <a:ext cx="84653" cy="84653"/>
          </a:xfrm>
          <a:prstGeom prst="roundRect">
            <a:avLst>
              <a:gd name="adj" fmla="val 540087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/>
          <p:nvPr/>
        </p:nvSpPr>
        <p:spPr>
          <a:xfrm>
            <a:off x="7844552" y="2067401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Disponibilidade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44552" y="2433757"/>
            <a:ext cx="5825490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Estar acessível para operação normal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0932" y="3213378"/>
            <a:ext cx="6418302" cy="976432"/>
          </a:xfrm>
          <a:prstGeom prst="roundRect">
            <a:avLst>
              <a:gd name="adj" fmla="val 156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960358" y="3472875"/>
            <a:ext cx="84653" cy="84653"/>
          </a:xfrm>
          <a:prstGeom prst="roundRect">
            <a:avLst>
              <a:gd name="adj" fmla="val 540087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/>
          <p:nvPr/>
        </p:nvSpPr>
        <p:spPr>
          <a:xfrm>
            <a:off x="1214438" y="3382804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Tolerância a Falhas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14438" y="3749159"/>
            <a:ext cx="5825371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Continuidade independente de presença de falhas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1048" y="3213378"/>
            <a:ext cx="6418302" cy="976432"/>
          </a:xfrm>
          <a:prstGeom prst="roundRect">
            <a:avLst>
              <a:gd name="adj" fmla="val 156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7" name="Shape 15"/>
          <p:cNvSpPr/>
          <p:nvPr/>
        </p:nvSpPr>
        <p:spPr>
          <a:xfrm>
            <a:off x="7590473" y="3472875"/>
            <a:ext cx="84653" cy="84653"/>
          </a:xfrm>
          <a:prstGeom prst="roundRect">
            <a:avLst>
              <a:gd name="adj" fmla="val 540087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8" name="Text 16"/>
          <p:cNvSpPr/>
          <p:nvPr/>
        </p:nvSpPr>
        <p:spPr>
          <a:xfrm>
            <a:off x="7844552" y="3382804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Recuperação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24227" y="3786240"/>
            <a:ext cx="6559938" cy="234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Capacidade de se recuperar rapidamente de interrupções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0932" y="4444008"/>
            <a:ext cx="4670346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Capacidade de Manutenção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32" y="5121831"/>
            <a:ext cx="4236482" cy="1293376"/>
          </a:xfrm>
          <a:prstGeom prst="roundRect">
            <a:avLst>
              <a:gd name="adj" fmla="val 1179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Text 20"/>
          <p:cNvSpPr/>
          <p:nvPr/>
        </p:nvSpPr>
        <p:spPr>
          <a:xfrm>
            <a:off x="983218" y="5314117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Modularidade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3218" y="5680472"/>
            <a:ext cx="3851910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Composição em componentes com mudanças isoladas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96840" y="5121831"/>
            <a:ext cx="4236601" cy="1293376"/>
          </a:xfrm>
          <a:prstGeom prst="roundRect">
            <a:avLst>
              <a:gd name="adj" fmla="val 1179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5" name="Text 23"/>
          <p:cNvSpPr/>
          <p:nvPr/>
        </p:nvSpPr>
        <p:spPr>
          <a:xfrm>
            <a:off x="5389126" y="5314117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Reusabilidade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02867" y="5121831"/>
            <a:ext cx="4236601" cy="1293376"/>
          </a:xfrm>
          <a:prstGeom prst="roundRect">
            <a:avLst>
              <a:gd name="adj" fmla="val 1179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Text 26"/>
          <p:cNvSpPr/>
          <p:nvPr/>
        </p:nvSpPr>
        <p:spPr>
          <a:xfrm>
            <a:off x="9795153" y="5314117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Análise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795153" y="5680471"/>
            <a:ext cx="3852029" cy="651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Rastrear incidentes e facilitar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diagnósticos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90932" y="6584633"/>
            <a:ext cx="6439495" cy="1022152"/>
          </a:xfrm>
          <a:prstGeom prst="roundRect">
            <a:avLst>
              <a:gd name="adj" fmla="val 1492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1" name="Text 29"/>
          <p:cNvSpPr/>
          <p:nvPr/>
        </p:nvSpPr>
        <p:spPr>
          <a:xfrm>
            <a:off x="983218" y="6776918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Modificação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83218" y="7143274"/>
            <a:ext cx="6054923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Alteração efetiva e eficiente sem novos defeitos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399853" y="6584633"/>
            <a:ext cx="6439614" cy="1022152"/>
          </a:xfrm>
          <a:prstGeom prst="roundRect">
            <a:avLst>
              <a:gd name="adj" fmla="val 1492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Text 32"/>
          <p:cNvSpPr/>
          <p:nvPr/>
        </p:nvSpPr>
        <p:spPr>
          <a:xfrm>
            <a:off x="7592139" y="6776918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Testabilidade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92139" y="7143274"/>
            <a:ext cx="6055043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Estabelecer critérios de testes com alta eficiência</a:t>
            </a:r>
            <a:endParaRPr lang="en-US" sz="2000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B3D7471-B853-C436-2677-8F1266C7A28E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2951E6ED-95C1-988C-9D45-561AC1354229}"/>
              </a:ext>
            </a:extLst>
          </p:cNvPr>
          <p:cNvSpPr/>
          <p:nvPr/>
        </p:nvSpPr>
        <p:spPr>
          <a:xfrm>
            <a:off x="5389126" y="5664254"/>
            <a:ext cx="3851910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Reutilizar partes do sistema sem recriações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76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PORTABILIDADE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666762"/>
            <a:ext cx="3664744" cy="2040493"/>
          </a:xfrm>
          <a:prstGeom prst="roundRect">
            <a:avLst>
              <a:gd name="adj" fmla="val 7170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Shape 2"/>
          <p:cNvSpPr/>
          <p:nvPr/>
        </p:nvSpPr>
        <p:spPr>
          <a:xfrm>
            <a:off x="793790" y="2636282"/>
            <a:ext cx="3664744" cy="1219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Shape 3"/>
          <p:cNvSpPr/>
          <p:nvPr/>
        </p:nvSpPr>
        <p:spPr>
          <a:xfrm>
            <a:off x="2285940" y="232660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Text 4"/>
          <p:cNvSpPr/>
          <p:nvPr/>
        </p:nvSpPr>
        <p:spPr>
          <a:xfrm>
            <a:off x="2490014" y="249674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084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Adaptação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51084" y="3724156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Capacidade de adaptar-se a novos ambientes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685348" y="2666762"/>
            <a:ext cx="3664863" cy="2040493"/>
          </a:xfrm>
          <a:prstGeom prst="roundRect">
            <a:avLst>
              <a:gd name="adj" fmla="val 7170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1" name="Shape 8"/>
          <p:cNvSpPr/>
          <p:nvPr/>
        </p:nvSpPr>
        <p:spPr>
          <a:xfrm>
            <a:off x="4685348" y="2636282"/>
            <a:ext cx="3664863" cy="1219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Shape 9"/>
          <p:cNvSpPr/>
          <p:nvPr/>
        </p:nvSpPr>
        <p:spPr>
          <a:xfrm>
            <a:off x="6177498" y="232660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3" name="Text 10"/>
          <p:cNvSpPr/>
          <p:nvPr/>
        </p:nvSpPr>
        <p:spPr>
          <a:xfrm>
            <a:off x="6381571" y="249674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942642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Instalação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42642" y="3724156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Instalar e reinstalar com sucesso em ambiente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93790" y="5274231"/>
            <a:ext cx="7556421" cy="1677591"/>
          </a:xfrm>
          <a:prstGeom prst="roundRect">
            <a:avLst>
              <a:gd name="adj" fmla="val 8721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7" name="Shape 14"/>
          <p:cNvSpPr/>
          <p:nvPr/>
        </p:nvSpPr>
        <p:spPr>
          <a:xfrm>
            <a:off x="793790" y="5243751"/>
            <a:ext cx="7556421" cy="1219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8" name="Shape 15"/>
          <p:cNvSpPr/>
          <p:nvPr/>
        </p:nvSpPr>
        <p:spPr>
          <a:xfrm>
            <a:off x="4231779" y="49340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9" name="Text 16"/>
          <p:cNvSpPr/>
          <p:nvPr/>
        </p:nvSpPr>
        <p:spPr>
          <a:xfrm>
            <a:off x="4435852" y="510420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051084" y="5841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Substituição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51084" y="6331625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 substituto por outro software com mesmo propósito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12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CONCLUSÃO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8941" y="1855232"/>
            <a:ext cx="1278767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 responsabilidade ambiental no desenvolvimento de software não é um adicional, é parte integral da qualidade e sustentabilidade do produto.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1663898"/>
            <a:ext cx="22860" cy="106299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93790" y="29820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Ação Prática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662482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Cada decisão técnica que tomamos durante o desenvolvimento: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3790" y="4125992"/>
            <a:ext cx="382667" cy="382667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857548" y="4157841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6478" y="4184452"/>
            <a:ext cx="294929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Afeta o consumo de energia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21523" y="4125992"/>
            <a:ext cx="382667" cy="382667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/>
          <p:nvPr/>
        </p:nvSpPr>
        <p:spPr>
          <a:xfrm>
            <a:off x="7485281" y="4157841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74211" y="4184452"/>
            <a:ext cx="369581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Impacta a durabilidade do sistema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3790" y="4848820"/>
            <a:ext cx="382667" cy="382667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/>
          <p:nvPr/>
        </p:nvSpPr>
        <p:spPr>
          <a:xfrm>
            <a:off x="857548" y="488067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46478" y="4907280"/>
            <a:ext cx="483381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Influencia a facilidade de manutenção futura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1523" y="4848820"/>
            <a:ext cx="382667" cy="382667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/>
          <p:nvPr/>
        </p:nvSpPr>
        <p:spPr>
          <a:xfrm>
            <a:off x="7485281" y="488067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74211" y="4907280"/>
            <a:ext cx="5862399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Contribui (positiva ou negativamente) para sustentabilidade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3790" y="56939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Reflexão Final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48941" y="6565702"/>
            <a:ext cx="1278767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"Um software sustentável é um compromisso compartilhado entre todos os envolvidos em seu ciclo de vida, onde a responsabilidade ambiental e a qualidade técnica caminham juntas."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3790" y="6374368"/>
            <a:ext cx="22860" cy="106299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B5388CE-4887-231A-630D-BA21BE033B0F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367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REFERÊNCIAS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39415B-48B3-7F14-6D97-1B5AC280E509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EDBB93-E20F-02C2-7163-B6759986539F}"/>
              </a:ext>
            </a:extLst>
          </p:cNvPr>
          <p:cNvSpPr txBox="1"/>
          <p:nvPr/>
        </p:nvSpPr>
        <p:spPr>
          <a:xfrm>
            <a:off x="793790" y="1149243"/>
            <a:ext cx="13363274" cy="6505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Becker, C., et al. (2015). 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Green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Sustainable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Software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Morgan Kaufmann.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Hilty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L. M., &amp;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Aebischer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B. (Eds.). (2018). 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ICT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Innovations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for Sustainability: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Smart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Cities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Smart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Energy Systems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Springer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Publishing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Kern, E., &amp;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Hilty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L. M. (2021).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Sustainable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IT: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Concepts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Practices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Journal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Industrial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Ecology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25(2), 241-255.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The Green Software Foundation. (2023). 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Green Software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Patterns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Practices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Disponível em: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https://greensoftware.foundation/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IEA -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Energy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Agency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(2022). 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Data Centres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Digitalisation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Disponível em: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https://www.iea.org/reports/data-centres-and-data-transmission-networks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ITU-T L.1300. (2020). 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Series L: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Climate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Change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- ICT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climate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change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assessing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environmental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Communication Technologies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Telecommunication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Union.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NUNES, S., R.(2020). 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A CONTRIBUIÇÃO DOS PRINCÍPIOS DE PROGRAMAÇÃO NO DESENVOLVIMENTO DE SOFTWARE SUSTENTÁVEL.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857</Words>
  <Application>Microsoft Office PowerPoint</Application>
  <PresentationFormat>Personalizar</PresentationFormat>
  <Paragraphs>128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Nobile</vt:lpstr>
      <vt:lpstr>Fraunces Extra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thiagorafael13022007@gmail.com</cp:lastModifiedBy>
  <cp:revision>4</cp:revision>
  <dcterms:created xsi:type="dcterms:W3CDTF">2025-11-11T16:09:22Z</dcterms:created>
  <dcterms:modified xsi:type="dcterms:W3CDTF">2025-11-20T02:00:54Z</dcterms:modified>
</cp:coreProperties>
</file>