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Fraunces Extra Bold" panose="020B0604020202020204" charset="0"/>
      <p:regular r:id="rId1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19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reensoftware.foundatio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iea.org/reports/data-centres-and-data-transmission-networ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02819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Responsabilidade ambiental</a:t>
            </a:r>
            <a:endParaRPr lang="en-US" sz="6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99173" y="3899416"/>
            <a:ext cx="714565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Desenvolvimento de software sustentável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33951" y="4920020"/>
            <a:ext cx="721625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"Nem sempre associamos software a impactos ambientais, mas a forma como um sistema é construído tem grande importância sobre como os recursos computacionais, energéticos e financeiros que suportam seu ecossistema serão utilizados."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4664869"/>
            <a:ext cx="30480" cy="1961912"/>
          </a:xfrm>
          <a:prstGeom prst="rect">
            <a:avLst/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2371"/>
            <a:ext cx="62945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SUSTENTABILIDADE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354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Conceito:</a:t>
            </a:r>
            <a:r>
              <a:rPr lang="en-US" sz="24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Termo que exprime ambição futura de continuidade, durabilidade ou perenidade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011335"/>
            <a:ext cx="634912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Três Dimensões (Triple Bottom Line)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4776788"/>
            <a:ext cx="4196358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6" name="Text 4"/>
          <p:cNvSpPr/>
          <p:nvPr/>
        </p:nvSpPr>
        <p:spPr>
          <a:xfrm>
            <a:off x="1020604" y="50036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Ambiental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0604" y="549402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Conservação de recursos naturais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16962" y="4776788"/>
            <a:ext cx="4196358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9" name="Text 7"/>
          <p:cNvSpPr/>
          <p:nvPr/>
        </p:nvSpPr>
        <p:spPr>
          <a:xfrm>
            <a:off x="5443776" y="50036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Econômica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43776" y="549402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Viabilidade financeira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40133" y="4776788"/>
            <a:ext cx="4196358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9866948" y="50036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Social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66948" y="5494020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Impacto nas pessoas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6BF55FB5-869A-36E7-149B-CA8C2D8D2380}"/>
              </a:ext>
            </a:extLst>
          </p:cNvPr>
          <p:cNvSpPr/>
          <p:nvPr/>
        </p:nvSpPr>
        <p:spPr>
          <a:xfrm>
            <a:off x="793670" y="28226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Origem:</a:t>
            </a:r>
            <a:r>
              <a:rPr lang="en-US" sz="24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 Surgiu com questão ambiental da sobrepesca e tendo sido banalizado na atualidade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9A01EF4-DDCF-7855-DB2A-7E57F3F90DA5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05808"/>
            <a:ext cx="758725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SOFTWARE SUSTENTÁVEL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602361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Software Sustentável é aquele desenvolvido com impactos mínimos ou positivos na economia, sociedade e meio ambiente.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270302"/>
            <a:ext cx="5567362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Critérios de Identificação</a:t>
            </a:r>
            <a:endParaRPr lang="en-US" sz="3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6132195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Presença de critérios de qualidade de software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6552367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Existência de critérios específicos de sustentabilidade (especialmente eficiência energética)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6972538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Adoção de critérios de sustentabilidade em todas as fases do ciclo de vida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D3178CD-14FE-B845-79E2-4E342482CFFB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7930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2358" y="2399943"/>
            <a:ext cx="11569303" cy="448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CARACTERÍSTICAS E RESPONSABILIDADES - CICLO DE VIDA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72358" y="3063359"/>
            <a:ext cx="13085683" cy="953572"/>
          </a:xfrm>
          <a:prstGeom prst="roundRect">
            <a:avLst>
              <a:gd name="adj" fmla="val 13539"/>
            </a:avLst>
          </a:prstGeom>
          <a:solidFill>
            <a:srgbClr val="CCE6D1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10" y="3276124"/>
            <a:ext cx="224076" cy="1793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3137" y="3242548"/>
            <a:ext cx="12431554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“Cada profissional envolvido no desenvolvimento, teste, implantação, monitoração e manutenção tem o dever de aprimorar e transmitir conhecimentos para mitigar ou eliminar impactos ambientais”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772358" y="4178260"/>
            <a:ext cx="6471166" cy="1650683"/>
          </a:xfrm>
          <a:prstGeom prst="roundRect">
            <a:avLst>
              <a:gd name="adj" fmla="val 7821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30950" y="4336852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Engenheiros de Software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30950" y="4709636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Disseminar conhecimento sustentável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30950" y="5046583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Orientar arquitetura e qualidade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30950" y="5383530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Considerar impactos (3 dimensões)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386876" y="4178260"/>
            <a:ext cx="6471166" cy="1650683"/>
          </a:xfrm>
          <a:prstGeom prst="roundRect">
            <a:avLst>
              <a:gd name="adj" fmla="val 7821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5467" y="4336852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Definidores de Produto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545467" y="4709636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Optar por itens sustentáveis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545467" y="5046583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Incluir sustentabilidade em requisitos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545467" y="5383530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Monitorar execução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772358" y="5972294"/>
            <a:ext cx="6471166" cy="1650683"/>
          </a:xfrm>
          <a:prstGeom prst="roundRect">
            <a:avLst>
              <a:gd name="adj" fmla="val 7821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30950" y="6130885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Gerência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930950" y="6503670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Gerenciar projetos sustentáveis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30950" y="6840617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Acompanhar métricas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930950" y="7177564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Monitorar objetivos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7386876" y="5972294"/>
            <a:ext cx="6471166" cy="1650683"/>
          </a:xfrm>
          <a:prstGeom prst="roundRect">
            <a:avLst>
              <a:gd name="adj" fmla="val 7821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545467" y="6130885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Usuários Finais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7545467" y="6503670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Resolver conflitos ambientais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545467" y="6840617"/>
            <a:ext cx="6153983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Priorizar impactos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3C4610D-5977-40CB-F0B3-715B6ACBC354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118696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TRÊS PILARES DA SUSTENTABILIDADE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32334" y="4518779"/>
            <a:ext cx="3046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Eficiência Energética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7717" y="4526161"/>
            <a:ext cx="339328" cy="339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937790" y="3292554"/>
            <a:ext cx="34334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Otimização de Recursos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4326" y="3142536"/>
            <a:ext cx="339328" cy="33932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937790" y="5745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Perdurabilidade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44326" y="5909786"/>
            <a:ext cx="339328" cy="339328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6812288-29ED-45AC-D8A4-E1EC15C3F460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09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90888"/>
            <a:ext cx="1278469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CARACTERÍSTICAS DO SOFTWARE SUSTENTÁVEL</a:t>
            </a:r>
            <a:endParaRPr lang="en-US" sz="3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970377"/>
            <a:ext cx="385595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Confiabilidade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4741545"/>
            <a:ext cx="6400919" cy="1110734"/>
          </a:xfrm>
          <a:prstGeom prst="roundRect">
            <a:avLst>
              <a:gd name="adj" fmla="val 15622"/>
            </a:avLst>
          </a:prstGeom>
          <a:solidFill>
            <a:srgbClr val="E8F3E8"/>
          </a:solidFill>
          <a:ln/>
        </p:spPr>
      </p:sp>
      <p:sp>
        <p:nvSpPr>
          <p:cNvPr id="6" name="Shape 3"/>
          <p:cNvSpPr/>
          <p:nvPr/>
        </p:nvSpPr>
        <p:spPr>
          <a:xfrm>
            <a:off x="986552" y="5036760"/>
            <a:ext cx="96322" cy="96322"/>
          </a:xfrm>
          <a:prstGeom prst="roundRect">
            <a:avLst>
              <a:gd name="adj" fmla="val 474658"/>
            </a:avLst>
          </a:prstGeom>
          <a:solidFill>
            <a:srgbClr val="438951"/>
          </a:solidFill>
          <a:ln/>
        </p:spPr>
      </p:sp>
      <p:sp>
        <p:nvSpPr>
          <p:cNvPr id="7" name="Text 4"/>
          <p:cNvSpPr/>
          <p:nvPr/>
        </p:nvSpPr>
        <p:spPr>
          <a:xfrm>
            <a:off x="1275636" y="493430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Maturidade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75636" y="5351145"/>
            <a:ext cx="572631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Grau necessário para garantir alta disponibilidade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35691" y="4741545"/>
            <a:ext cx="6400919" cy="1110734"/>
          </a:xfrm>
          <a:prstGeom prst="roundRect">
            <a:avLst>
              <a:gd name="adj" fmla="val 15622"/>
            </a:avLst>
          </a:prstGeom>
          <a:solidFill>
            <a:srgbClr val="E8F3E8"/>
          </a:solidFill>
          <a:ln/>
        </p:spPr>
      </p:sp>
      <p:sp>
        <p:nvSpPr>
          <p:cNvPr id="10" name="Shape 7"/>
          <p:cNvSpPr/>
          <p:nvPr/>
        </p:nvSpPr>
        <p:spPr>
          <a:xfrm>
            <a:off x="7628453" y="5036760"/>
            <a:ext cx="96322" cy="96322"/>
          </a:xfrm>
          <a:prstGeom prst="roundRect">
            <a:avLst>
              <a:gd name="adj" fmla="val 474658"/>
            </a:avLst>
          </a:prstGeom>
          <a:solidFill>
            <a:srgbClr val="438951"/>
          </a:solidFill>
          <a:ln/>
        </p:spPr>
      </p:sp>
      <p:sp>
        <p:nvSpPr>
          <p:cNvPr id="11" name="Text 8"/>
          <p:cNvSpPr/>
          <p:nvPr/>
        </p:nvSpPr>
        <p:spPr>
          <a:xfrm>
            <a:off x="7917537" y="493430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Disponibilidade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17537" y="5351145"/>
            <a:ext cx="572631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Estar acessível para operação normal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93790" y="6237803"/>
            <a:ext cx="6400919" cy="1110734"/>
          </a:xfrm>
          <a:prstGeom prst="roundRect">
            <a:avLst>
              <a:gd name="adj" fmla="val 15622"/>
            </a:avLst>
          </a:prstGeom>
          <a:solidFill>
            <a:srgbClr val="E8F3E8"/>
          </a:solidFill>
          <a:ln/>
        </p:spPr>
      </p:sp>
      <p:sp>
        <p:nvSpPr>
          <p:cNvPr id="14" name="Shape 11"/>
          <p:cNvSpPr/>
          <p:nvPr/>
        </p:nvSpPr>
        <p:spPr>
          <a:xfrm>
            <a:off x="986552" y="6533019"/>
            <a:ext cx="96322" cy="96322"/>
          </a:xfrm>
          <a:prstGeom prst="roundRect">
            <a:avLst>
              <a:gd name="adj" fmla="val 474658"/>
            </a:avLst>
          </a:prstGeom>
          <a:solidFill>
            <a:srgbClr val="438951"/>
          </a:solidFill>
          <a:ln/>
        </p:spPr>
      </p:sp>
      <p:sp>
        <p:nvSpPr>
          <p:cNvPr id="15" name="Text 12"/>
          <p:cNvSpPr/>
          <p:nvPr/>
        </p:nvSpPr>
        <p:spPr>
          <a:xfrm>
            <a:off x="1275636" y="643056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Tolerância a Falhas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275636" y="6847403"/>
            <a:ext cx="572631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Continuidade independente de presença de falhas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435691" y="6237803"/>
            <a:ext cx="6400919" cy="1110734"/>
          </a:xfrm>
          <a:prstGeom prst="roundRect">
            <a:avLst>
              <a:gd name="adj" fmla="val 15622"/>
            </a:avLst>
          </a:prstGeom>
          <a:solidFill>
            <a:srgbClr val="E8F3E8"/>
          </a:solidFill>
          <a:ln/>
        </p:spPr>
      </p:sp>
      <p:sp>
        <p:nvSpPr>
          <p:cNvPr id="18" name="Shape 15"/>
          <p:cNvSpPr/>
          <p:nvPr/>
        </p:nvSpPr>
        <p:spPr>
          <a:xfrm>
            <a:off x="7628453" y="6533019"/>
            <a:ext cx="96322" cy="96322"/>
          </a:xfrm>
          <a:prstGeom prst="roundRect">
            <a:avLst>
              <a:gd name="adj" fmla="val 474658"/>
            </a:avLst>
          </a:prstGeom>
          <a:solidFill>
            <a:srgbClr val="438951"/>
          </a:solidFill>
          <a:ln/>
        </p:spPr>
      </p:sp>
      <p:sp>
        <p:nvSpPr>
          <p:cNvPr id="19" name="Text 16"/>
          <p:cNvSpPr/>
          <p:nvPr/>
        </p:nvSpPr>
        <p:spPr>
          <a:xfrm>
            <a:off x="7917537" y="643056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Recuperação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917537" y="6847403"/>
            <a:ext cx="572631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Capacidade de se recuperar rapidamente de interrupções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C5B3D1B-D65B-3B0C-4876-DDFAE3CD356C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776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PORTABILIDADE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666762"/>
            <a:ext cx="3664744" cy="2040493"/>
          </a:xfrm>
          <a:prstGeom prst="roundRect">
            <a:avLst>
              <a:gd name="adj" fmla="val 7170"/>
            </a:avLst>
          </a:prstGeom>
          <a:solidFill>
            <a:srgbClr val="FAFFFA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2636282"/>
            <a:ext cx="3664744" cy="12192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6" name="Shape 3"/>
          <p:cNvSpPr/>
          <p:nvPr/>
        </p:nvSpPr>
        <p:spPr>
          <a:xfrm>
            <a:off x="2285940" y="232660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8951"/>
          </a:solidFill>
          <a:ln/>
        </p:spPr>
      </p:sp>
      <p:sp>
        <p:nvSpPr>
          <p:cNvPr id="7" name="Text 4"/>
          <p:cNvSpPr/>
          <p:nvPr/>
        </p:nvSpPr>
        <p:spPr>
          <a:xfrm>
            <a:off x="2490014" y="249674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1084" y="32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Adaptação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51084" y="3724156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Capacidade de adaptar-se a novos ambientes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85348" y="2666762"/>
            <a:ext cx="3664863" cy="2040493"/>
          </a:xfrm>
          <a:prstGeom prst="roundRect">
            <a:avLst>
              <a:gd name="adj" fmla="val 7170"/>
            </a:avLst>
          </a:prstGeom>
          <a:solidFill>
            <a:srgbClr val="FAFFFA"/>
          </a:solidFill>
          <a:ln/>
        </p:spPr>
      </p:sp>
      <p:sp>
        <p:nvSpPr>
          <p:cNvPr id="11" name="Shape 8"/>
          <p:cNvSpPr/>
          <p:nvPr/>
        </p:nvSpPr>
        <p:spPr>
          <a:xfrm>
            <a:off x="4685348" y="2636282"/>
            <a:ext cx="3664863" cy="12192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2" name="Shape 9"/>
          <p:cNvSpPr/>
          <p:nvPr/>
        </p:nvSpPr>
        <p:spPr>
          <a:xfrm>
            <a:off x="6177498" y="232660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8951"/>
          </a:solidFill>
          <a:ln/>
        </p:spPr>
      </p:sp>
      <p:sp>
        <p:nvSpPr>
          <p:cNvPr id="13" name="Text 10"/>
          <p:cNvSpPr/>
          <p:nvPr/>
        </p:nvSpPr>
        <p:spPr>
          <a:xfrm>
            <a:off x="6381571" y="249674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942642" y="3233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Instalação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42642" y="3724156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Instalar e reinstalar com sucesso em ambiente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93790" y="5274231"/>
            <a:ext cx="7556421" cy="1677591"/>
          </a:xfrm>
          <a:prstGeom prst="roundRect">
            <a:avLst>
              <a:gd name="adj" fmla="val 8721"/>
            </a:avLst>
          </a:prstGeom>
          <a:solidFill>
            <a:srgbClr val="FAFFFA"/>
          </a:solidFill>
          <a:ln/>
        </p:spPr>
      </p:sp>
      <p:sp>
        <p:nvSpPr>
          <p:cNvPr id="17" name="Shape 14"/>
          <p:cNvSpPr/>
          <p:nvPr/>
        </p:nvSpPr>
        <p:spPr>
          <a:xfrm>
            <a:off x="793790" y="5243751"/>
            <a:ext cx="7556421" cy="12192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8" name="Shape 15"/>
          <p:cNvSpPr/>
          <p:nvPr/>
        </p:nvSpPr>
        <p:spPr>
          <a:xfrm>
            <a:off x="4231779" y="49340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38951"/>
          </a:solidFill>
          <a:ln/>
        </p:spPr>
      </p:sp>
      <p:sp>
        <p:nvSpPr>
          <p:cNvPr id="19" name="Text 16"/>
          <p:cNvSpPr/>
          <p:nvPr/>
        </p:nvSpPr>
        <p:spPr>
          <a:xfrm>
            <a:off x="4435852" y="510420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051084" y="58412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Substituição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51084" y="6331625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Ser substituto por outro software com mesmo propósito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735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CONCLUSÃO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33951" y="2677597"/>
            <a:ext cx="7216259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A responsabilidade ambiental no desenvolvimento de software não é um adicional, é parte integral da qualidade e sustentabilidade do produto.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2422446"/>
            <a:ext cx="30480" cy="1870829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54842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Cada decisão técnica que tomamos durante o desenvolvimento: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516647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Afeta o consumo de energia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56086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Impacta a durabilidade do sistema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3790" y="605087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Influencia a facilidade de manutenção futura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93790" y="64930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Contribui (positiva ou negativamente) para sustentabilidade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04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Arial" panose="020B0604020202020204" pitchFamily="34" charset="0"/>
                <a:ea typeface="Fraunces Extra Bold" pitchFamily="34" charset="-122"/>
                <a:cs typeface="Arial" panose="020B0604020202020204" pitchFamily="34" charset="0"/>
              </a:rPr>
              <a:t>REFERÊNCIAS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228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Becker, C., et al. (2015). </a:t>
            </a:r>
            <a:r>
              <a:rPr lang="en-US" sz="1750" b="1" i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Green and Sustainable Software Engineering</a:t>
            </a:r>
            <a:r>
              <a:rPr lang="en-US" sz="17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. Morgan Kaufmann.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16503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Kern, E., &amp; Hilty, L. M. (2021). </a:t>
            </a:r>
            <a:r>
              <a:rPr lang="en-US" sz="1750" b="1" i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Sustainable IT: Concepts, Practices, and Research</a:t>
            </a:r>
            <a:r>
              <a:rPr lang="en-US" sz="17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. Journal of Industrial Ecology, 25(2), 241-255.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97013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The Green Software Foundation. (2023). </a:t>
            </a:r>
            <a:r>
              <a:rPr lang="en-US" sz="1750" b="1" i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Green Software Patterns and Practices</a:t>
            </a:r>
            <a:r>
              <a:rPr lang="en-US" sz="17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. Disponível em: </a:t>
            </a:r>
            <a:r>
              <a:rPr lang="en-US" sz="1750" u="sng" dirty="0">
                <a:solidFill>
                  <a:srgbClr val="438951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https://greensoftware.foundation/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77524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IEA - International Energy Agency. (2022). </a:t>
            </a:r>
            <a:r>
              <a:rPr lang="en-US" sz="1750" b="1" i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Data Centres and Digitalisation</a:t>
            </a:r>
            <a:r>
              <a:rPr lang="en-US" sz="17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. Disponível em: </a:t>
            </a:r>
            <a:r>
              <a:rPr lang="en-US" sz="1750" u="sng" dirty="0">
                <a:solidFill>
                  <a:srgbClr val="438951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https://www.iea.org/reports/data-centres-and-data-transmission-networks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580340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ITU-T L.1300. (2020). </a:t>
            </a:r>
            <a:r>
              <a:rPr lang="en-US" sz="1750" b="1" i="1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Series L: Environment and Climate Change - ICT and climate change: Methodology for assessing the environmental impact of Information and Communication Technologies</a:t>
            </a:r>
            <a:r>
              <a:rPr lang="en-US" sz="1750" dirty="0">
                <a:solidFill>
                  <a:srgbClr val="405449"/>
                </a:solidFill>
                <a:latin typeface="Arial" panose="020B0604020202020204" pitchFamily="34" charset="0"/>
                <a:ea typeface="Nobile" pitchFamily="34" charset="-122"/>
                <a:cs typeface="Arial" panose="020B0604020202020204" pitchFamily="34" charset="0"/>
              </a:rPr>
              <a:t>. International Telecommunication Union.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21585E5-BE4D-70C5-6AD7-90962F554B62}"/>
              </a:ext>
            </a:extLst>
          </p:cNvPr>
          <p:cNvSpPr/>
          <p:nvPr/>
        </p:nvSpPr>
        <p:spPr>
          <a:xfrm>
            <a:off x="12715539" y="7732225"/>
            <a:ext cx="1914861" cy="497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502</Words>
  <Application>Microsoft Office PowerPoint</Application>
  <PresentationFormat>Personalizar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Fraunces Extra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Thiago</dc:creator>
  <cp:lastModifiedBy>thiagorafael13022007@gmail.com</cp:lastModifiedBy>
  <cp:revision>2</cp:revision>
  <dcterms:created xsi:type="dcterms:W3CDTF">2025-11-30T02:15:37Z</dcterms:created>
  <dcterms:modified xsi:type="dcterms:W3CDTF">2025-11-30T02:31:06Z</dcterms:modified>
</cp:coreProperties>
</file>